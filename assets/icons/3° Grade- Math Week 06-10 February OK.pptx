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sldIdLst>
    <p:sldId id="256" r:id="rId2"/>
    <p:sldId id="282" r:id="rId3"/>
    <p:sldId id="258" r:id="rId4"/>
    <p:sldId id="260" r:id="rId5"/>
    <p:sldId id="262" r:id="rId6"/>
    <p:sldId id="264" r:id="rId7"/>
    <p:sldId id="265" r:id="rId8"/>
    <p:sldId id="287" r:id="rId9"/>
    <p:sldId id="259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0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Lozano Lamus" userId="bc16fbe70ceb6b30" providerId="LiveId" clId="{16429112-97A4-46AC-8870-CF6182972FAF}"/>
    <pc:docChg chg="modSld">
      <pc:chgData name="Juan Lozano Lamus" userId="bc16fbe70ceb6b30" providerId="LiveId" clId="{16429112-97A4-46AC-8870-CF6182972FAF}" dt="2023-02-14T00:53:27.572" v="1" actId="20577"/>
      <pc:docMkLst>
        <pc:docMk/>
      </pc:docMkLst>
      <pc:sldChg chg="modSp mod">
        <pc:chgData name="Juan Lozano Lamus" userId="bc16fbe70ceb6b30" providerId="LiveId" clId="{16429112-97A4-46AC-8870-CF6182972FAF}" dt="2023-02-14T00:53:27.572" v="1" actId="20577"/>
        <pc:sldMkLst>
          <pc:docMk/>
          <pc:sldMk cId="3100565200" sldId="259"/>
        </pc:sldMkLst>
        <pc:spChg chg="mod">
          <ac:chgData name="Juan Lozano Lamus" userId="bc16fbe70ceb6b30" providerId="LiveId" clId="{16429112-97A4-46AC-8870-CF6182972FAF}" dt="2023-02-14T00:53:27.572" v="1" actId="20577"/>
          <ac:spMkLst>
            <pc:docMk/>
            <pc:sldMk cId="3100565200" sldId="259"/>
            <ac:spMk id="3" creationId="{3BD2A238-D52C-431D-8800-6A894D338F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03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23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0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2/13/2023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06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22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87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0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8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1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03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596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800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30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320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951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235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52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2/13/2023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84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14" y="1567543"/>
            <a:ext cx="7511143" cy="3801292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1306287" y="431075"/>
            <a:ext cx="9601196" cy="8882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sz="6600" b="1" dirty="0">
                <a:solidFill>
                  <a:schemeClr val="bg1"/>
                </a:solidFill>
              </a:rPr>
              <a:t>Matemáticas</a:t>
            </a:r>
            <a:endParaRPr lang="es-CO" sz="6600" b="1" dirty="0">
              <a:solidFill>
                <a:schemeClr val="bg1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306287" y="5695407"/>
            <a:ext cx="9601196" cy="8882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MX" sz="6600" b="1" dirty="0">
                <a:solidFill>
                  <a:schemeClr val="bg1"/>
                </a:solidFill>
              </a:rPr>
              <a:t>Grado: 3°</a:t>
            </a:r>
            <a:endParaRPr lang="es-CO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642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32684" y="618185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4800" b="1" dirty="0">
                <a:solidFill>
                  <a:srgbClr val="FF0000"/>
                </a:solidFill>
              </a:rPr>
              <a:t>MON</a:t>
            </a:r>
            <a:r>
              <a:rPr lang="en" sz="4800" b="1" dirty="0">
                <a:solidFill>
                  <a:srgbClr val="FF0000"/>
                </a:solidFill>
              </a:rPr>
              <a:t>DAY – </a:t>
            </a:r>
            <a:r>
              <a:rPr lang="es-CO" sz="4800" b="1" dirty="0">
                <a:solidFill>
                  <a:srgbClr val="FF0000"/>
                </a:solidFill>
              </a:rPr>
              <a:t>5 </a:t>
            </a:r>
            <a:r>
              <a:rPr lang="en" sz="4800" b="1" dirty="0">
                <a:solidFill>
                  <a:srgbClr val="FF0000"/>
                </a:solidFill>
              </a:rPr>
              <a:t>– FEBRUARY 2023</a:t>
            </a:r>
            <a:endParaRPr lang="es-CO" sz="4800" b="1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95401" y="2285999"/>
            <a:ext cx="9601196" cy="35898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3200" b="1" dirty="0">
                <a:solidFill>
                  <a:srgbClr val="FF0000"/>
                </a:solidFill>
              </a:rPr>
              <a:t>PURPOSE</a:t>
            </a:r>
            <a:r>
              <a:rPr lang="es-MX" sz="3200" b="1" dirty="0">
                <a:solidFill>
                  <a:schemeClr val="tx1"/>
                </a:solidFill>
              </a:rPr>
              <a:t>: Comprender las características de los conjuntos.</a:t>
            </a:r>
            <a:endParaRPr lang="es-CO" sz="3200" b="1" dirty="0">
              <a:solidFill>
                <a:schemeClr val="tx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234" y="3589866"/>
            <a:ext cx="2143125" cy="214312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t="8438"/>
          <a:stretch/>
        </p:blipFill>
        <p:spPr>
          <a:xfrm>
            <a:off x="4911636" y="3765490"/>
            <a:ext cx="4853259" cy="211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34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632683" y="673872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9039" y="562498"/>
            <a:ext cx="9601196" cy="782274"/>
          </a:xfrm>
        </p:spPr>
        <p:txBody>
          <a:bodyPr/>
          <a:lstStyle/>
          <a:p>
            <a:r>
              <a:rPr lang="es-MX" b="1" dirty="0">
                <a:solidFill>
                  <a:srgbClr val="FF0000"/>
                </a:solidFill>
              </a:rPr>
              <a:t>LOS CONJUNTOS</a:t>
            </a:r>
            <a:endParaRPr lang="es-CO" b="1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8490" y="1635618"/>
            <a:ext cx="10522040" cy="2189408"/>
          </a:xfrm>
        </p:spPr>
        <p:txBody>
          <a:bodyPr/>
          <a:lstStyle/>
          <a:p>
            <a:pPr marL="0" indent="0" algn="just">
              <a:buNone/>
            </a:pPr>
            <a:r>
              <a:rPr lang="es-MX" sz="2800" dirty="0"/>
              <a:t>Son aquellas agrupaciones de diferentes elementos que tienen una característica en común. </a:t>
            </a:r>
          </a:p>
          <a:p>
            <a:pPr marL="0" indent="0" algn="just">
              <a:buNone/>
            </a:pPr>
            <a:r>
              <a:rPr lang="es-MX" sz="2800" dirty="0"/>
              <a:t>Por ejemplo: 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054" y="3885458"/>
            <a:ext cx="1899074" cy="197669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128" y="4321140"/>
            <a:ext cx="1076339" cy="999458"/>
          </a:xfrm>
          <a:prstGeom prst="rect">
            <a:avLst/>
          </a:prstGeom>
        </p:spPr>
      </p:pic>
      <p:pic>
        <p:nvPicPr>
          <p:cNvPr id="1026" name="Picture 2" descr="Shrek (personaje) | Doblaje Wiki | Fand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757" y="3435328"/>
            <a:ext cx="1834297" cy="220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lipse 3"/>
          <p:cNvSpPr/>
          <p:nvPr/>
        </p:nvSpPr>
        <p:spPr>
          <a:xfrm>
            <a:off x="3400847" y="2738536"/>
            <a:ext cx="5388172" cy="344332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redondeado 9"/>
          <p:cNvSpPr/>
          <p:nvPr/>
        </p:nvSpPr>
        <p:spPr>
          <a:xfrm>
            <a:off x="8953456" y="2716327"/>
            <a:ext cx="670512" cy="5409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chemeClr val="tx1"/>
                </a:solidFill>
              </a:rPr>
              <a:t>M</a:t>
            </a:r>
            <a:endParaRPr lang="es-CO" sz="2800" b="1" dirty="0">
              <a:solidFill>
                <a:schemeClr val="tx1"/>
              </a:solidFill>
            </a:endParaRPr>
          </a:p>
        </p:txBody>
      </p:sp>
      <p:cxnSp>
        <p:nvCxnSpPr>
          <p:cNvPr id="11" name="Conector recto 10"/>
          <p:cNvCxnSpPr/>
          <p:nvPr/>
        </p:nvCxnSpPr>
        <p:spPr>
          <a:xfrm flipV="1">
            <a:off x="8409904" y="3235031"/>
            <a:ext cx="543552" cy="4005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21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649046" y="631064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280A76-02FF-4101-82C4-33EF99482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868696"/>
            <a:ext cx="9601196" cy="882202"/>
          </a:xfrm>
        </p:spPr>
        <p:txBody>
          <a:bodyPr>
            <a:normAutofit fontScale="90000"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ARMA LOS CONJUNTOS</a:t>
            </a:r>
            <a:br>
              <a:rPr lang="es-CO" b="1" dirty="0">
                <a:solidFill>
                  <a:srgbClr val="FF0000"/>
                </a:solidFill>
              </a:rPr>
            </a:br>
            <a:r>
              <a:rPr lang="es-CO" b="1" dirty="0">
                <a:solidFill>
                  <a:srgbClr val="FF0000"/>
                </a:solidFill>
              </a:rPr>
              <a:t>(</a:t>
            </a:r>
            <a:r>
              <a:rPr lang="es-CO" sz="3600" b="1" dirty="0">
                <a:solidFill>
                  <a:srgbClr val="FF0000"/>
                </a:solidFill>
              </a:rPr>
              <a:t>No se hace en el cuaderno, es un ejercicio temático)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AA7AA4-8046-4C79-8CC1-7408D5C9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2480436"/>
            <a:ext cx="4837044" cy="3667498"/>
          </a:xfrm>
          <a:prstGeom prst="rect">
            <a:avLst/>
          </a:prstGeom>
        </p:spPr>
      </p:pic>
      <p:sp>
        <p:nvSpPr>
          <p:cNvPr id="6" name="Elipse 5"/>
          <p:cNvSpPr/>
          <p:nvPr/>
        </p:nvSpPr>
        <p:spPr>
          <a:xfrm>
            <a:off x="6369249" y="2234483"/>
            <a:ext cx="4936901" cy="368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111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672973" y="618185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945360-2631-444E-82BB-D3E4BA40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07" y="2557920"/>
            <a:ext cx="5237920" cy="3675455"/>
          </a:xfrm>
          <a:prstGeom prst="rect">
            <a:avLst/>
          </a:prstGeom>
        </p:spPr>
      </p:pic>
      <p:sp>
        <p:nvSpPr>
          <p:cNvPr id="6" name="Elipse 5"/>
          <p:cNvSpPr/>
          <p:nvPr/>
        </p:nvSpPr>
        <p:spPr>
          <a:xfrm>
            <a:off x="6369249" y="2234483"/>
            <a:ext cx="4936901" cy="368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  </a:t>
            </a:r>
            <a:endParaRPr lang="es-CO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C280A76-02FF-4101-82C4-33EF99482607}"/>
              </a:ext>
            </a:extLst>
          </p:cNvPr>
          <p:cNvSpPr txBox="1">
            <a:spLocks/>
          </p:cNvSpPr>
          <p:nvPr/>
        </p:nvSpPr>
        <p:spPr>
          <a:xfrm>
            <a:off x="1295401" y="868696"/>
            <a:ext cx="9601196" cy="8822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b="1">
                <a:solidFill>
                  <a:srgbClr val="FF0000"/>
                </a:solidFill>
              </a:rPr>
              <a:t>ARMA LOS CONJUNTOS</a:t>
            </a:r>
            <a:br>
              <a:rPr lang="es-CO" b="1">
                <a:solidFill>
                  <a:srgbClr val="FF0000"/>
                </a:solidFill>
              </a:rPr>
            </a:br>
            <a:r>
              <a:rPr lang="es-CO" b="1">
                <a:solidFill>
                  <a:srgbClr val="FF0000"/>
                </a:solidFill>
              </a:rPr>
              <a:t>(</a:t>
            </a:r>
            <a:r>
              <a:rPr lang="es-CO" sz="3600" b="1">
                <a:solidFill>
                  <a:srgbClr val="FF0000"/>
                </a:solidFill>
              </a:rPr>
              <a:t>No se hace en el cuaderno, es un ejercicio temático)</a:t>
            </a:r>
            <a:endParaRPr lang="es-CO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4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32684" y="618185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6" name="Picture 2" descr="conjunto de iconos de útiles escolares de dibujos animados coloridos  2850123 Vector en Vecteezy">
            <a:extLst>
              <a:ext uri="{FF2B5EF4-FFF2-40B4-BE49-F238E27FC236}">
                <a16:creationId xmlns:a16="http://schemas.microsoft.com/office/drawing/2014/main" id="{8EF172EB-D6E0-4D5A-983A-82282BC06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810" y="2253872"/>
            <a:ext cx="5035827" cy="376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lipse 4"/>
          <p:cNvSpPr/>
          <p:nvPr/>
        </p:nvSpPr>
        <p:spPr>
          <a:xfrm>
            <a:off x="6369249" y="2234483"/>
            <a:ext cx="4936901" cy="368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C280A76-02FF-4101-82C4-33EF99482607}"/>
              </a:ext>
            </a:extLst>
          </p:cNvPr>
          <p:cNvSpPr txBox="1">
            <a:spLocks/>
          </p:cNvSpPr>
          <p:nvPr/>
        </p:nvSpPr>
        <p:spPr>
          <a:xfrm>
            <a:off x="1279039" y="866104"/>
            <a:ext cx="9601196" cy="88220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b="1" dirty="0">
                <a:solidFill>
                  <a:srgbClr val="FF0000"/>
                </a:solidFill>
              </a:rPr>
              <a:t>ARMA LOS CONJUNTOS</a:t>
            </a:r>
            <a:br>
              <a:rPr lang="es-CO" b="1" dirty="0">
                <a:solidFill>
                  <a:srgbClr val="FF0000"/>
                </a:solidFill>
              </a:rPr>
            </a:br>
            <a:r>
              <a:rPr lang="es-CO" b="1" dirty="0">
                <a:solidFill>
                  <a:srgbClr val="FF0000"/>
                </a:solidFill>
              </a:rPr>
              <a:t>(</a:t>
            </a:r>
            <a:r>
              <a:rPr lang="es-CO" sz="3600" b="1" dirty="0">
                <a:solidFill>
                  <a:srgbClr val="FF0000"/>
                </a:solidFill>
              </a:rPr>
              <a:t>No se hace en el cuaderno, es un ejercicio temático)</a:t>
            </a:r>
          </a:p>
        </p:txBody>
      </p:sp>
    </p:spTree>
    <p:extLst>
      <p:ext uri="{BB962C8B-B14F-4D97-AF65-F5344CB8AC3E}">
        <p14:creationId xmlns:p14="http://schemas.microsoft.com/office/powerpoint/2010/main" val="137946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32684" y="618185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280A76-02FF-4101-82C4-33EF99482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039" y="799165"/>
            <a:ext cx="9601196" cy="677889"/>
          </a:xfrm>
        </p:spPr>
        <p:txBody>
          <a:bodyPr>
            <a:normAutofit fontScale="90000"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ARMA LOS CONJUNTOS</a:t>
            </a:r>
          </a:p>
        </p:txBody>
      </p:sp>
      <p:sp>
        <p:nvSpPr>
          <p:cNvPr id="5" name="Elipse 4"/>
          <p:cNvSpPr/>
          <p:nvPr/>
        </p:nvSpPr>
        <p:spPr>
          <a:xfrm>
            <a:off x="1159099" y="2385930"/>
            <a:ext cx="4936901" cy="368001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6"/>
          <p:cNvCxnSpPr>
            <a:stCxn id="5" idx="1"/>
          </p:cNvCxnSpPr>
          <p:nvPr/>
        </p:nvCxnSpPr>
        <p:spPr>
          <a:xfrm flipH="1" flipV="1">
            <a:off x="1545465" y="2485623"/>
            <a:ext cx="336626" cy="4392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ángulo redondeado 7"/>
          <p:cNvSpPr/>
          <p:nvPr/>
        </p:nvSpPr>
        <p:spPr>
          <a:xfrm>
            <a:off x="1068946" y="2021982"/>
            <a:ext cx="670512" cy="5409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chemeClr val="tx1"/>
                </a:solidFill>
              </a:rPr>
              <a:t>R</a:t>
            </a:r>
            <a:endParaRPr lang="es-CO" sz="2800" b="1" dirty="0">
              <a:solidFill>
                <a:schemeClr val="tx1"/>
              </a:solidFill>
            </a:endParaRPr>
          </a:p>
        </p:txBody>
      </p:sp>
      <p:cxnSp>
        <p:nvCxnSpPr>
          <p:cNvPr id="10" name="Conector recto 9"/>
          <p:cNvCxnSpPr/>
          <p:nvPr/>
        </p:nvCxnSpPr>
        <p:spPr>
          <a:xfrm flipV="1">
            <a:off x="2369714" y="2924856"/>
            <a:ext cx="1257835" cy="3463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10"/>
          <p:cNvCxnSpPr/>
          <p:nvPr/>
        </p:nvCxnSpPr>
        <p:spPr>
          <a:xfrm flipV="1">
            <a:off x="2434919" y="3271234"/>
            <a:ext cx="1257835" cy="3198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>
            <a:off x="2202288" y="4466665"/>
            <a:ext cx="1221347" cy="5494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/>
          <p:cNvCxnSpPr/>
          <p:nvPr/>
        </p:nvCxnSpPr>
        <p:spPr>
          <a:xfrm flipV="1">
            <a:off x="2202287" y="4225939"/>
            <a:ext cx="796344" cy="75158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/>
          <p:cNvCxnSpPr/>
          <p:nvPr/>
        </p:nvCxnSpPr>
        <p:spPr>
          <a:xfrm>
            <a:off x="4213540" y="4090116"/>
            <a:ext cx="113119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/>
          <p:cNvCxnSpPr/>
          <p:nvPr/>
        </p:nvCxnSpPr>
        <p:spPr>
          <a:xfrm>
            <a:off x="4584879" y="3591059"/>
            <a:ext cx="0" cy="11476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CuadroTexto 2"/>
          <p:cNvSpPr txBox="1"/>
          <p:nvPr/>
        </p:nvSpPr>
        <p:spPr>
          <a:xfrm>
            <a:off x="6809786" y="2440237"/>
            <a:ext cx="43396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b="1" dirty="0"/>
              <a:t>Cuál es la característica de </a:t>
            </a:r>
          </a:p>
          <a:p>
            <a:r>
              <a:rPr lang="es-MX" sz="2400" b="1" dirty="0"/>
              <a:t>este conjunto?</a:t>
            </a:r>
          </a:p>
          <a:p>
            <a:r>
              <a:rPr lang="es-MX" sz="2400" b="1" dirty="0"/>
              <a:t>__________________________</a:t>
            </a:r>
          </a:p>
          <a:p>
            <a:r>
              <a:rPr lang="es-MX" sz="2400" b="1" dirty="0"/>
              <a:t>__________________________</a:t>
            </a:r>
          </a:p>
          <a:p>
            <a:r>
              <a:rPr lang="es-MX" sz="2400" b="1" dirty="0"/>
              <a:t>__________________________</a:t>
            </a:r>
          </a:p>
          <a:p>
            <a:r>
              <a:rPr lang="es-MX" sz="2400" b="1" dirty="0"/>
              <a:t>__________________________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1238580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32684" y="618185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280A76-02FF-4101-82C4-33EF99482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039" y="799165"/>
            <a:ext cx="9601196" cy="677889"/>
          </a:xfrm>
        </p:spPr>
        <p:txBody>
          <a:bodyPr>
            <a:normAutofit fontScale="90000"/>
          </a:bodyPr>
          <a:lstStyle/>
          <a:p>
            <a:r>
              <a:rPr lang="es-CO" b="1" dirty="0">
                <a:solidFill>
                  <a:srgbClr val="FF0000"/>
                </a:solidFill>
              </a:rPr>
              <a:t>TIPOS DE RECTAS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84" y="1863695"/>
            <a:ext cx="10893907" cy="434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8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32684" y="618185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F70E8E-632D-4DFB-9457-B2DFCE9D8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solidFill>
                  <a:srgbClr val="FF0000"/>
                </a:solidFill>
              </a:rPr>
              <a:t>REGLAS DE LOS CONJUNTOS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D2A238-D52C-431D-8800-6A894D338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CO" sz="2800" dirty="0"/>
              <a:t>Cuando se agrupan elementos que tienen alguna característica en común dan origen a un conjunto.</a:t>
            </a:r>
          </a:p>
          <a:p>
            <a:pPr algn="just"/>
            <a:r>
              <a:rPr lang="es-CO" sz="2800" dirty="0"/>
              <a:t>Un conjunto </a:t>
            </a:r>
            <a:r>
              <a:rPr lang="es-CO" sz="2800"/>
              <a:t>se nombra </a:t>
            </a:r>
            <a:r>
              <a:rPr lang="es-CO" sz="2800" dirty="0"/>
              <a:t>con una letra mayúscula y se puede representar de dos formas:  Diagrama de Venn o Entre llaves.</a:t>
            </a:r>
          </a:p>
          <a:p>
            <a:pPr algn="just"/>
            <a:r>
              <a:rPr lang="es-CO" sz="2800" dirty="0"/>
              <a:t>Los conjuntos se pueden determinar por Extensión o Comprensión </a:t>
            </a:r>
          </a:p>
        </p:txBody>
      </p:sp>
    </p:spTree>
    <p:extLst>
      <p:ext uri="{BB962C8B-B14F-4D97-AF65-F5344CB8AC3E}">
        <p14:creationId xmlns:p14="http://schemas.microsoft.com/office/powerpoint/2010/main" val="3100565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632684" y="618185"/>
            <a:ext cx="10893907" cy="56151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0567" y="733937"/>
            <a:ext cx="9601196" cy="1303867"/>
          </a:xfrm>
        </p:spPr>
        <p:txBody>
          <a:bodyPr/>
          <a:lstStyle/>
          <a:p>
            <a:r>
              <a:rPr lang="es-MX" b="1" dirty="0">
                <a:solidFill>
                  <a:srgbClr val="FF0000"/>
                </a:solidFill>
              </a:rPr>
              <a:t>Representación de Conjuntos </a:t>
            </a:r>
            <a:endParaRPr lang="es-CO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671067"/>
              </p:ext>
            </p:extLst>
          </p:nvPr>
        </p:nvGraphicFramePr>
        <p:xfrm>
          <a:off x="725712" y="2091266"/>
          <a:ext cx="1074347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1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066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DIAGRAMA</a:t>
                      </a:r>
                      <a:r>
                        <a:rPr lang="es-MX" sz="2400" baseline="0" dirty="0"/>
                        <a:t> DE VENN</a:t>
                      </a:r>
                      <a:endParaRPr lang="es-CO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ENTRE LLAVES</a:t>
                      </a:r>
                      <a:endParaRPr lang="es-CO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25">
                <a:tc>
                  <a:txBody>
                    <a:bodyPr/>
                    <a:lstStyle/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MX" dirty="0"/>
                    </a:p>
                    <a:p>
                      <a:endParaRPr lang="es-CO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Elipse 7"/>
          <p:cNvSpPr/>
          <p:nvPr/>
        </p:nvSpPr>
        <p:spPr>
          <a:xfrm>
            <a:off x="875763" y="2833352"/>
            <a:ext cx="2909125" cy="26947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Elipse 8"/>
          <p:cNvSpPr/>
          <p:nvPr/>
        </p:nvSpPr>
        <p:spPr>
          <a:xfrm>
            <a:off x="2573404" y="2884867"/>
            <a:ext cx="2909125" cy="26947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Estrella de 5 puntas 2"/>
          <p:cNvSpPr/>
          <p:nvPr/>
        </p:nvSpPr>
        <p:spPr>
          <a:xfrm>
            <a:off x="1416676" y="3322749"/>
            <a:ext cx="605307" cy="55673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strella de 5 puntas 9"/>
          <p:cNvSpPr/>
          <p:nvPr/>
        </p:nvSpPr>
        <p:spPr>
          <a:xfrm>
            <a:off x="1846557" y="4396664"/>
            <a:ext cx="605307" cy="55673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strella de 5 puntas 10"/>
          <p:cNvSpPr/>
          <p:nvPr/>
        </p:nvSpPr>
        <p:spPr>
          <a:xfrm>
            <a:off x="4333068" y="3953892"/>
            <a:ext cx="605307" cy="556734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/>
          <p:cNvSpPr/>
          <p:nvPr/>
        </p:nvSpPr>
        <p:spPr>
          <a:xfrm>
            <a:off x="1117280" y="4133066"/>
            <a:ext cx="487760" cy="4716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/>
          <p:cNvSpPr/>
          <p:nvPr/>
        </p:nvSpPr>
        <p:spPr>
          <a:xfrm>
            <a:off x="2207984" y="2978936"/>
            <a:ext cx="487760" cy="471628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Triángulo isósceles 13"/>
          <p:cNvSpPr/>
          <p:nvPr/>
        </p:nvSpPr>
        <p:spPr>
          <a:xfrm>
            <a:off x="3906428" y="3223712"/>
            <a:ext cx="714105" cy="453703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Triángulo isósceles 14"/>
          <p:cNvSpPr/>
          <p:nvPr/>
        </p:nvSpPr>
        <p:spPr>
          <a:xfrm>
            <a:off x="3906427" y="4818287"/>
            <a:ext cx="714105" cy="453703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Estrella de 5 puntas 15"/>
          <p:cNvSpPr/>
          <p:nvPr/>
        </p:nvSpPr>
        <p:spPr>
          <a:xfrm>
            <a:off x="2990347" y="3377246"/>
            <a:ext cx="372361" cy="44774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Estrella de 5 puntas 16"/>
          <p:cNvSpPr/>
          <p:nvPr/>
        </p:nvSpPr>
        <p:spPr>
          <a:xfrm>
            <a:off x="3234047" y="4004951"/>
            <a:ext cx="372361" cy="44774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Estrella de 5 puntas 17"/>
          <p:cNvSpPr/>
          <p:nvPr/>
        </p:nvSpPr>
        <p:spPr>
          <a:xfrm>
            <a:off x="2849131" y="4510626"/>
            <a:ext cx="372361" cy="447740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Elipse 18"/>
          <p:cNvSpPr/>
          <p:nvPr/>
        </p:nvSpPr>
        <p:spPr>
          <a:xfrm>
            <a:off x="7444602" y="2760610"/>
            <a:ext cx="2781223" cy="23651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Rectángulo redondeado 19"/>
          <p:cNvSpPr/>
          <p:nvPr/>
        </p:nvSpPr>
        <p:spPr>
          <a:xfrm>
            <a:off x="6673430" y="2708479"/>
            <a:ext cx="670512" cy="54091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b="1" dirty="0">
                <a:solidFill>
                  <a:schemeClr val="tx1"/>
                </a:solidFill>
              </a:rPr>
              <a:t>N</a:t>
            </a:r>
            <a:endParaRPr lang="es-CO" sz="2800" b="1" dirty="0">
              <a:solidFill>
                <a:schemeClr val="tx1"/>
              </a:solidFill>
            </a:endParaRPr>
          </a:p>
        </p:txBody>
      </p:sp>
      <p:cxnSp>
        <p:nvCxnSpPr>
          <p:cNvPr id="22" name="Conector recto 21"/>
          <p:cNvCxnSpPr/>
          <p:nvPr/>
        </p:nvCxnSpPr>
        <p:spPr>
          <a:xfrm>
            <a:off x="7318214" y="3214750"/>
            <a:ext cx="331837" cy="107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9139793" y="3260838"/>
            <a:ext cx="9444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/>
              <a:t>1</a:t>
            </a:r>
          </a:p>
          <a:p>
            <a:r>
              <a:rPr lang="es-MX" sz="2400" b="1" dirty="0"/>
              <a:t>        3</a:t>
            </a:r>
          </a:p>
          <a:p>
            <a:r>
              <a:rPr lang="es-MX" sz="2400" b="1" dirty="0"/>
              <a:t>6</a:t>
            </a:r>
            <a:endParaRPr lang="es-CO" sz="2400" b="1" dirty="0"/>
          </a:p>
        </p:txBody>
      </p:sp>
      <p:sp>
        <p:nvSpPr>
          <p:cNvPr id="25" name="CuadroTexto 24"/>
          <p:cNvSpPr txBox="1"/>
          <p:nvPr/>
        </p:nvSpPr>
        <p:spPr>
          <a:xfrm>
            <a:off x="7803282" y="3425780"/>
            <a:ext cx="8675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/>
              <a:t>2</a:t>
            </a:r>
          </a:p>
          <a:p>
            <a:r>
              <a:rPr lang="es-MX" sz="2400" b="1" dirty="0"/>
              <a:t>       4</a:t>
            </a:r>
          </a:p>
          <a:p>
            <a:r>
              <a:rPr lang="es-MX" sz="2400" b="1" dirty="0"/>
              <a:t>  5</a:t>
            </a:r>
            <a:endParaRPr lang="es-CO" sz="2400" b="1" dirty="0"/>
          </a:p>
        </p:txBody>
      </p:sp>
      <p:sp>
        <p:nvSpPr>
          <p:cNvPr id="26" name="CuadroTexto 25"/>
          <p:cNvSpPr txBox="1"/>
          <p:nvPr/>
        </p:nvSpPr>
        <p:spPr>
          <a:xfrm>
            <a:off x="8230687" y="2785153"/>
            <a:ext cx="7136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/>
              <a:t>7</a:t>
            </a:r>
          </a:p>
          <a:p>
            <a:r>
              <a:rPr lang="es-MX" sz="2400" b="1" dirty="0"/>
              <a:t>     8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8588139" y="4183961"/>
            <a:ext cx="8354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/>
              <a:t>9</a:t>
            </a:r>
          </a:p>
          <a:p>
            <a:r>
              <a:rPr lang="es-MX" sz="2400" b="1" dirty="0"/>
              <a:t>     10</a:t>
            </a:r>
          </a:p>
        </p:txBody>
      </p:sp>
      <p:sp>
        <p:nvSpPr>
          <p:cNvPr id="28" name="CuadroTexto 27"/>
          <p:cNvSpPr txBox="1"/>
          <p:nvPr/>
        </p:nvSpPr>
        <p:spPr>
          <a:xfrm>
            <a:off x="7008686" y="5291279"/>
            <a:ext cx="3477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b="1" dirty="0"/>
              <a:t>N= </a:t>
            </a:r>
            <a:r>
              <a:rPr lang="es-CO" sz="3600" dirty="0"/>
              <a:t>{</a:t>
            </a:r>
            <a:r>
              <a:rPr lang="es-CO" sz="2400" dirty="0"/>
              <a:t>1,2,3,4,5,6,7,8,9,10</a:t>
            </a:r>
            <a:r>
              <a:rPr lang="es-CO" sz="3600" dirty="0"/>
              <a:t>}</a:t>
            </a:r>
            <a:endParaRPr lang="es-MX" sz="3600" b="1" dirty="0"/>
          </a:p>
        </p:txBody>
      </p:sp>
    </p:spTree>
    <p:extLst>
      <p:ext uri="{BB962C8B-B14F-4D97-AF65-F5344CB8AC3E}">
        <p14:creationId xmlns:p14="http://schemas.microsoft.com/office/powerpoint/2010/main" val="1500510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569</TotalTime>
  <Words>192</Words>
  <Application>Microsoft Office PowerPoint</Application>
  <PresentationFormat>Panorámica</PresentationFormat>
  <Paragraphs>51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Orgánico</vt:lpstr>
      <vt:lpstr>Presentación de PowerPoint</vt:lpstr>
      <vt:lpstr>MONDAY – 5 – FEBRUARY 2023</vt:lpstr>
      <vt:lpstr>LOS CONJUNTOS</vt:lpstr>
      <vt:lpstr>ARMA LOS CONJUNTOS (No se hace en el cuaderno, es un ejercicio temático)</vt:lpstr>
      <vt:lpstr>  </vt:lpstr>
      <vt:lpstr>Presentación de PowerPoint</vt:lpstr>
      <vt:lpstr>ARMA LOS CONJUNTOS</vt:lpstr>
      <vt:lpstr>TIPOS DE RECTAS </vt:lpstr>
      <vt:lpstr>REGLAS DE LOS CONJUNTOS</vt:lpstr>
      <vt:lpstr>Representación de Conjuntos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Juan Lozano Lamus</cp:lastModifiedBy>
  <cp:revision>55</cp:revision>
  <dcterms:created xsi:type="dcterms:W3CDTF">2022-02-03T01:16:02Z</dcterms:created>
  <dcterms:modified xsi:type="dcterms:W3CDTF">2023-02-14T00:53:37Z</dcterms:modified>
</cp:coreProperties>
</file>